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20040" cy="6858000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005840"/>
            <a:ext cx="914400" cy="914400"/>
          </a:xfrm>
          <a:prstGeom prst="ellipse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5120640"/>
            <a:ext cx="548640" cy="548640"/>
          </a:xfrm>
          <a:prstGeom prst="ellipse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788920"/>
            <a:ext cx="12191695" cy="5486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68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B341"/>
                </a:solidFill>
                <a:latin typeface="맑은 고딕"/>
              </a:rPr>
              <a:t>AI 직원 만들기 · 마스터클래스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맑은 고딕"/>
              </a:rPr>
              <a:t>AI와 일하는 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B341"/>
                </a:solidFill>
                <a:latin typeface="맑은 고딕"/>
              </a:rPr>
              <a:t>왜 AI는 강의를 할 수 없는가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맑은 고딕"/>
              </a:rPr>
              <a:t>비개발자 셀러를 위한 3시간 · 코딩 없이 AI 직원 채용하기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이 강의는 필요 없습니다.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정말로요. 「AI 직원 만들기」를 설치하면, 강의 없이도 작동합니다.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5A4D"/>
                </a:solidFill>
                <a:latin typeface="맑은 고딕"/>
              </a:rPr>
              <a:t>이 슬라이드도</a:t>
            </a:r>
          </a:p>
          <a:p>
            <a:pPr algn="ctr"/>
            <a:r>
              <a:rPr sz="3800" b="1" i="0">
                <a:solidFill>
                  <a:srgbClr val="FF5A4D"/>
                </a:solidFill>
                <a:latin typeface="맑은 고딕"/>
              </a:rPr>
              <a:t>AI가 만들었습니다.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그런데 왜 사람이 강의를 할까요? — 오늘 그 답을 찾습니다.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이 강의가 하는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오늘의 약속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코딩은 한 줄도 안 가르칩니다.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용어를 외우게 하지 않습니다.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대신, AI와 함께 '판단하는 법'을 가르칩니다.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끝나면, 당신은 AI 직원을 직접 채용할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오늘의 순서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MODULE 1 — 왜 AI는 강의를 할 수 없는가  (사고방식)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MODULE 2 — AI 직원 해부도  (꼭 필요한 기본 용어)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MODULE 3 — 실전: AI 직원 채용하기  (스킬 사용)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그리고 — 운전면허 학원 이야기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28016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0" b="1" i="0">
                <a:solidFill>
                  <a:srgbClr val="222C44"/>
                </a:solidFill>
                <a:latin typeface="맑은 고딕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1463040" cy="5486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5A4D"/>
                </a:solidFill>
                <a:latin typeface="맑은 고딕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8686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왜 AI는 강의를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할 수 없는가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맑은 고딕"/>
              </a:rPr>
              <a:t>AI가 다 해주는 시대, 그래도 사람이 배워야 하는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"AI한테 만들어달라고</a:t>
            </a:r>
          </a:p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하면 되는 거 아니에요?"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맞습니다. 그게 함정입니다.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B2E"/>
                </a:solidFill>
                <a:latin typeface="맑은 고딕"/>
              </a:rPr>
              <a:t>말 한마디가 결과를 바꿉니다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0" cy="109728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029200" cy="109728"/>
          </a:xfrm>
          <a:prstGeom prst="roundRect">
            <a:avLst/>
          </a:prstGeom>
          <a:solidFill>
            <a:srgbClr val="16A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029200" cy="3931920"/>
          </a:xfrm>
          <a:prstGeom prst="roundRect">
            <a:avLst/>
          </a:prstGeom>
          <a:solidFill>
            <a:srgbClr val="F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5A4D"/>
                </a:solidFill>
                <a:latin typeface="맑은 고딕"/>
              </a:rPr>
              <a:t>❌ 명령형 — "~해줘"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"상품등록 AI 만들어줘"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"쿠팡 자동화 만들어줘"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"광고 분석 툴 만들어줘"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029200" cy="3931920"/>
          </a:xfrm>
          <a:prstGeom prst="roundRect">
            <a:avLst/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A385"/>
                </a:solidFill>
                <a:latin typeface="맑은 고딕"/>
              </a:rPr>
              <a:t>⭕ 목표형 — "~하고 싶다"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"상품등록 시간을 줄이고 싶다"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"광고비 새는 데를 알고 싶다"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"반복 문의 답변을 줄이고 싶다"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명령형의 함정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"만들어줘"라고 하면 AI는 바로 만들기 시작합니다.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당신의 상황을 묻지 않습니다.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5A4D"/>
                </a:solidFill>
                <a:latin typeface="맑은 고딕"/>
              </a:rPr>
              <a:t>•  그래서 엉뚱한 결과가 나옵니다.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결국 처음부터 다시. 시간이 더 듭니다.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목표형의 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"~하고 싶다"라고 하면 AI는 먼저 질문합니다.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"지금은 어떻게 하세요?" "몇 명이 쓰나요?"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그래서 당신 상황에 맞게 설계됩니다.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당신은 고르기만 하면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그럼 AI가 다 하네?</a:t>
            </a:r>
          </a:p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— 아니요.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AI가 구조적으로 '못 하는' 3가지가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AI가 못 하는 3가지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AI가 못 하는 것 ①  맥락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5A4D"/>
                </a:solidFill>
                <a:latin typeface="맑은 고딕"/>
              </a:rPr>
              <a:t>•  AI는 '당신 회사'를 모릅니다.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직원 3명짜리와 30명짜리는 답이 다릅니다.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당신이 말해주지 않으면, AI는 '평균값'을 뱉습니다.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→ 그래서 AI는 당신에게 물어봐야 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AI가 못 하는 3가지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AI가 못 하는 것 ②  판단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AI는 A안과 B안을 줍니다.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5A4D"/>
                </a:solidFill>
                <a:latin typeface="맑은 고딕"/>
              </a:rPr>
              <a:t>•  하지만 '당신에게 뭐가 맞는지'는 정하지 못합니다.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고르는 것은 언제나 당신의 몫입니다.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→ 그래서 '고르는 법'을 배워야 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AI가 못 하는 3가지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AI가 못 하는 것 ③  책임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AI 결과가 틀려도, AI는 손해 보지 않습니다.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5A4D"/>
                </a:solidFill>
                <a:latin typeface="맑은 고딕"/>
              </a:rPr>
              <a:t>•  잘못 올라간 상품, 잘못 쓴 광고비 — 당신 몫입니다.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그래서 '언제 믿고 언제 멈출지'를 알아야 합니다.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→ 이게 오늘 강의의 마지막 주제입니다.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6A385"/>
                </a:solidFill>
                <a:latin typeface="맑은 고딕"/>
              </a:rPr>
              <a:t>강의 = 맥락·판단·책임을</a:t>
            </a:r>
          </a:p>
          <a:p>
            <a:pPr algn="ctr"/>
            <a:r>
              <a:rPr sz="3800" b="1" i="0">
                <a:solidFill>
                  <a:srgbClr val="16A385"/>
                </a:solidFill>
                <a:latin typeface="맑은 고딕"/>
              </a:rPr>
              <a:t>당신에게 옮기는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기능 설명이 아닙니다. AI가 못 하는 영역만 정확히 가르칩니다.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당신은 코더가 아닙니다.</a:t>
            </a:r>
          </a:p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당신은 AI 사장님입니다.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AI 직원을 한 명 뽑았다고 생각하세요.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AI 사장님의 3가지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사장님이 하는 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① 채용 — 어떤 직원이 필요한지 정한다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② 지시 — 무엇을 원하는지 목표로 말한다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③ 검수 — 결과가 맞는지 확인한다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코딩은? 직원(AI)이 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MODULE 1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AI에게 '해줘' 대신 '하고 싶다'. AI가 못 하는 건 맥락·판단·책임. 당신은 사장님이다.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28016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0" b="1" i="0">
                <a:solidFill>
                  <a:srgbClr val="222C44"/>
                </a:solidFill>
                <a:latin typeface="맑은 고딕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1463040" cy="5486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5A4D"/>
                </a:solidFill>
                <a:latin typeface="맑은 고딕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8686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AI 직원 해부도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맑은 고딕"/>
              </a:rPr>
              <a:t>꼭 필요한 기본 용어 — 외우지 말고, 직원 한 명을 떠올리세요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용어가 무서운 진짜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MCP, 프롬프트, 워크플로우… 다 영어라서 무섭습니다.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그런데 사실은 회사에 이미 다 있는 개념입니다.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직원 한 명을 뜯어보면, 용어가 저절로 이해됩니다.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B2E"/>
                </a:solidFill>
                <a:latin typeface="맑은 고딕"/>
              </a:rPr>
              <a:t>AI 직원은 이렇게 생겼습니다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089904" y="2240280"/>
            <a:ext cx="0" cy="1783080"/>
          </a:xfrm>
          <a:prstGeom prst="line">
            <a:avLst/>
          </a:prstGeom>
          <a:ln w="19050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089904" y="2911627"/>
            <a:ext cx="3181334" cy="1111733"/>
          </a:xfrm>
          <a:prstGeom prst="line">
            <a:avLst/>
          </a:prstGeom>
          <a:ln w="19050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4023360"/>
            <a:ext cx="3967059" cy="396772"/>
          </a:xfrm>
          <a:prstGeom prst="line">
            <a:avLst/>
          </a:prstGeom>
          <a:ln w="19050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9904" y="4023360"/>
            <a:ext cx="1765507" cy="1606499"/>
          </a:xfrm>
          <a:prstGeom prst="line">
            <a:avLst/>
          </a:prstGeom>
          <a:ln w="19050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4324396" y="4023360"/>
            <a:ext cx="1765508" cy="1606499"/>
          </a:xfrm>
          <a:prstGeom prst="line">
            <a:avLst/>
          </a:prstGeom>
          <a:ln w="19050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122844" y="4023360"/>
            <a:ext cx="3967060" cy="396772"/>
          </a:xfrm>
          <a:prstGeom prst="line">
            <a:avLst/>
          </a:prstGeom>
          <a:ln w="19050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908569" y="2911627"/>
            <a:ext cx="3181335" cy="1111733"/>
          </a:xfrm>
          <a:prstGeom prst="line">
            <a:avLst/>
          </a:prstGeom>
          <a:ln w="19050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038344" y="3337560"/>
            <a:ext cx="2103120" cy="1371600"/>
          </a:xfrm>
          <a:prstGeom prst="ellipse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4" y="3611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AI 직원</a:t>
            </a:r>
          </a:p>
          <a:p>
            <a:pPr algn="ctr"/>
            <a:r>
              <a:rPr sz="1200" b="0" i="0">
                <a:solidFill>
                  <a:srgbClr val="F5B341"/>
                </a:solidFill>
                <a:latin typeface="맑은 고딕"/>
              </a:rPr>
              <a:t>(내가 뽑은 직원)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46904" y="1851660"/>
            <a:ext cx="2286000" cy="7772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4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1906524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1B2E"/>
                </a:solidFill>
                <a:latin typeface="맑은 고딕"/>
              </a:rPr>
              <a:t>두뇌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맑은 고딕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238" y="2523007"/>
            <a:ext cx="2286000" cy="7772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6A3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9678" y="2577871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85"/>
                </a:solidFill>
                <a:latin typeface="맑은 고딕"/>
              </a:rPr>
              <a:t>기억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맑은 고딕"/>
              </a:rPr>
              <a:t>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3963" y="4031512"/>
            <a:ext cx="2286000" cy="7772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F5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5403" y="4086376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B341"/>
                </a:solidFill>
                <a:latin typeface="맑은 고딕"/>
              </a:rPr>
              <a:t>손발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맑은 고딕"/>
              </a:rPr>
              <a:t>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2411" y="5241239"/>
            <a:ext cx="2286000" cy="7772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FF5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851" y="5296103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A4D"/>
                </a:solidFill>
                <a:latin typeface="맑은 고딕"/>
              </a:rPr>
              <a:t>외부 연결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맑은 고딕"/>
              </a:rPr>
              <a:t>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81396" y="5241239"/>
            <a:ext cx="2286000" cy="7772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4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2836" y="5296103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1B2E"/>
                </a:solidFill>
                <a:latin typeface="맑은 고딕"/>
              </a:rPr>
              <a:t>업무지침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맑은 고딕"/>
              </a:rPr>
              <a:t>Instruction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9844" y="4031512"/>
            <a:ext cx="2286000" cy="7772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6A3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1284" y="4086376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85"/>
                </a:solidFill>
                <a:latin typeface="맑은 고딕"/>
              </a:rPr>
              <a:t>업무절차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맑은 고딕"/>
              </a:rPr>
              <a:t>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65569" y="2523007"/>
            <a:ext cx="2286000" cy="7772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FF5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57009" y="2577871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A4D"/>
                </a:solidFill>
                <a:latin typeface="맑은 고딕"/>
              </a:rPr>
              <a:t>전문 능력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맑은 고딕"/>
              </a:rPr>
              <a:t>Skill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해부도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두뇌 = AI의 머리 (모델)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생각하고 글을 쓰는 부분. 사람으로 치면 머리입니다.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더 좋은 두뇌일수록 똑똑하지만, 비용도 큽니다.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→ 사장님은 '얼마나 똑똑한 직원이 필요한지'만 정하면 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해부도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기억 = 상황·맥락 (Context)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지금까지 나눈 대화와 상황을 기억하는 부분.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기억이 없으면 매번 처음부터 설명해야 합니다.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→ 그래서 '내 상황'을 잘 알려주는 게 중요합니다.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해부도 ③④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손발 &amp; 외부 연결 = 도구 /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도구(Tool) = AI가 실제로 누르는 손발. 예: 파일 저장.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외부 서비스 연결(MCP) = 구글시트·쇼핑몰에 손을 뻗는 것.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→ '어떤 서비스랑 연결할까?'만 정하면 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해부도 ⑤⑥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매뉴얼 &amp; 순서 = 업무지침 / 업무절차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업무지침(Instruction) = 직원이 지켜야 할 규칙. "존댓말로 답해라".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업무절차(Workflow) = 일하는 순서. "먼저 확인 → 그다음 등록".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→ 신입에게 매뉴얼과 순서를 주는 것과 똑같습니다.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해부도 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전문 능력 = 스킬 (Skill)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특정 분야를 잘하게 해주는 '자격증' 같은 것.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오늘 쓰는 「AI 직원 만들기」도 하나의 스킬입니다.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→ 필요한 능력만 골라 직원에게 달아줍니다.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B2E"/>
                </a:solidFill>
                <a:latin typeface="맑은 고딕"/>
              </a:rPr>
              <a:t>용어 번역표 (한 장 총정리)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463040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  <a:latin typeface="맑은 고딕"/>
              </a:rPr>
              <a:t>쉬운 말 (강의 용어)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874519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  <a:latin typeface="맑은 고딕"/>
              </a:rPr>
              <a:t>실제 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74519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  <a:latin typeface="맑은 고딕"/>
              </a:rPr>
              <a:t>한 마디로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41448"/>
            <a:ext cx="10424160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78024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B2E"/>
                </a:solidFill>
                <a:latin typeface="맑은 고딕"/>
              </a:rPr>
              <a:t>AI 직원 / 비서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496312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맑은 고딕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96312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맑은 고딕"/>
              </a:rPr>
              <a:t>일을 대신하는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4495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B2E"/>
                </a:solidFill>
                <a:latin typeface="맑은 고딕"/>
              </a:rPr>
              <a:t>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06324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맑은 고딕"/>
              </a:rPr>
              <a:t>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6324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맑은 고딕"/>
              </a:rPr>
              <a:t>AI에게 하는 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75304"/>
            <a:ext cx="10424160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B2E"/>
                </a:solidFill>
                <a:latin typeface="맑은 고딕"/>
              </a:rPr>
              <a:t>업무지침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3016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맑은 고딕"/>
              </a:rPr>
              <a:t>Instruction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3016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맑은 고딕"/>
              </a:rPr>
              <a:t>지켜야 할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78808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B2E"/>
                </a:solidFill>
                <a:latin typeface="맑은 고딕"/>
              </a:rPr>
              <a:t>업무절차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197096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맑은 고딕"/>
              </a:rPr>
              <a:t>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97096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맑은 고딕"/>
              </a:rPr>
              <a:t>일하는 순서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09160"/>
            <a:ext cx="10424160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45736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B2E"/>
                </a:solidFill>
                <a:latin typeface="맑은 고딕"/>
              </a:rPr>
              <a:t>외부 서비스 연결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764024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맑은 고딕"/>
              </a:rPr>
              <a:t>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64024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맑은 고딕"/>
              </a:rPr>
              <a:t>다른 서비스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12664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B2E"/>
                </a:solidFill>
                <a:latin typeface="맑은 고딕"/>
              </a:rPr>
              <a:t>도구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330952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맑은 고딕"/>
              </a:rPr>
              <a:t>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30952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맑은 고딕"/>
              </a:rPr>
              <a:t>AI의 손발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843016"/>
            <a:ext cx="10424160" cy="566928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87959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1B2E"/>
                </a:solidFill>
                <a:latin typeface="맑은 고딕"/>
              </a:rPr>
              <a:t>전문 능력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89788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맑은 고딕"/>
              </a:rPr>
              <a:t>Skill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89788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맑은 고딕"/>
              </a:rPr>
              <a:t>분야별 자격증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용어를 외우지 마세요.</a:t>
            </a:r>
          </a:p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직원 한 명을 떠올리세요.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두뇌·기억·손발·매뉴얼·순서·자격증. 그게 전부입니다.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MODULE 2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AI 직원 = 두뇌+기억+손발+매뉴얼+순서+자격증. 용어는 회사에 이미 있던 개념이다.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28016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0" b="1" i="0">
                <a:solidFill>
                  <a:srgbClr val="222C44"/>
                </a:solidFill>
                <a:latin typeface="맑은 고딕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1463040" cy="5486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5A4D"/>
                </a:solidFill>
                <a:latin typeface="맑은 고딕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8686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실전: AI 직원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채용하기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맑은 고딕"/>
              </a:rPr>
              <a:t>이제 직접 한 명 뽑아봅니다 — 「AI 직원 만들기」 스킬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29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B2E"/>
                </a:solidFill>
                <a:latin typeface="맑은 고딕"/>
              </a:rPr>
              <a:t>전체 흐름은 이게 전부입니다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743200"/>
            <a:ext cx="1783080" cy="24688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1348" y="2432304"/>
            <a:ext cx="603504" cy="603504"/>
          </a:xfrm>
          <a:prstGeom prst="ellipse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1348" y="248716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32461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1B2E"/>
                </a:solidFill>
                <a:latin typeface="맑은 고딕"/>
              </a:rPr>
              <a:t>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4069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맑은 고딕"/>
              </a:rPr>
              <a:t>한 번만 하면 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2344" y="35204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B341"/>
                </a:solidFill>
                <a:latin typeface="맑은 고딕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743200"/>
            <a:ext cx="1783080" cy="24688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3028" y="2432304"/>
            <a:ext cx="603504" cy="603504"/>
          </a:xfrm>
          <a:prstGeom prst="ellipse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3028" y="248716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461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1B2E"/>
                </a:solidFill>
                <a:latin typeface="맑은 고딕"/>
              </a:rPr>
              <a:t>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069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맑은 고딕"/>
              </a:rPr>
              <a:t>"무엇이 불편하세요?"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35204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B341"/>
                </a:solidFill>
                <a:latin typeface="맑은 고딕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743200"/>
            <a:ext cx="1783080" cy="24688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4708" y="2432304"/>
            <a:ext cx="603504" cy="603504"/>
          </a:xfrm>
          <a:prstGeom prst="ellipse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4708" y="248716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1B2E"/>
                </a:solidFill>
                <a:latin typeface="맑은 고딕"/>
              </a:rPr>
              <a:t>답하기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069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맑은 고딕"/>
              </a:rPr>
              <a:t>목표·상황만 말함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35204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B341"/>
                </a:solidFill>
                <a:latin typeface="맑은 고딕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2743200"/>
            <a:ext cx="1783080" cy="24688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76388" y="2432304"/>
            <a:ext cx="603504" cy="603504"/>
          </a:xfrm>
          <a:prstGeom prst="ellipse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6388" y="248716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461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1B2E"/>
                </a:solidFill>
                <a:latin typeface="맑은 고딕"/>
              </a:rPr>
              <a:t>고르기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069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맑은 고딕"/>
              </a:rPr>
              <a:t>추천안 중 선택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35204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B341"/>
                </a:solidFill>
                <a:latin typeface="맑은 고딕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743200"/>
            <a:ext cx="1783080" cy="2468880"/>
          </a:xfrm>
          <a:prstGeom prst="round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88068" y="2432304"/>
            <a:ext cx="603504" cy="603504"/>
          </a:xfrm>
          <a:prstGeom prst="ellipse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8068" y="248716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2461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41B2E"/>
                </a:solidFill>
                <a:latin typeface="맑은 고딕"/>
              </a:rPr>
              <a:t>완성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069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맑은 고딕"/>
              </a:rPr>
              <a:t>직원이 일 시작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STEP 1 — 설치 (한 번만)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「AI 직원 만들기」를 한 번만 설치합니다.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Claude Code 또는 Codex 어디서든 됩니다.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설치 후엔 그냥 부르기만 하면 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STEP 2 — 실행하면 코치가 먼저 묻습니다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"안녕하세요. 코딩은 몰라도 됩니다."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"요즘 어떤 일이 제일 번거로우세요?"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당신은 무엇을 만들지 몰라도 됩니다. 불편한 것만 말하세요.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이렇게 말하세요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목표 말하는 법 — 불편/욕구만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"상품등록이 너무 오래 걸려요"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"광고비가 어디서 새는지 모르겠어요"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"같은 고객 문의에 매번 답하는 게 지쳐요"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이렇게만 말하면, 나머지는 코치가 질문합니다.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AI의 질문에 답하는 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코치는 한 번에 하나씩 묻습니다.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"지금은 어떻게 하세요?" → 솔직하게 답하면 됩니다.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모르면 "잘 모르겠어요"도 정답입니다.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좋은 AI는 질문을 많이 하는 AI입니다.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강의의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판단 시뮬레이터 — A/B가 나오면?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코치: "추천 ① 반자동 — AI가 초안까지, 등록 버튼은 사장님이"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코치: "② 완전자동 — AI가 등록까지. 단, 되돌리기 번거로움"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당신: 둘 중 하나만 고르면 됩니다.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정답은 없습니다. '내 상황에 맞는' 게 정답입니다.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이게 평생 가는 능력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고르는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처음이라면 → 항상 '추천안(보통 ①)'으로.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규모가 커지면 → 더 자동화된 쪽으로 옮긴다.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불안하면 → 사람이 마지막을 확인하는 쪽으로.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이 기준만 있으면, 어떤 선택지가 나와도 고를 수 있습니다.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결과 검수하는 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완성되면, 작은 것 하나로 먼저 테스트합니다.</a:t>
            </a:r>
          </a:p>
          <a:p>
            <a:pPr lvl="1" algn="l">
              <a:spcAft>
                <a:spcPts val="1000"/>
              </a:spcAft>
            </a:pPr>
            <a:r>
              <a:rPr sz="1800" b="0" i="0">
                <a:solidFill>
                  <a:srgbClr val="6B7280"/>
                </a:solidFill>
                <a:latin typeface="맑은 고딕"/>
              </a:rPr>
              <a:t>–  "상품 1개만 먼저 해보자" — 전체에 돌리기 전에.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결과가 내 기대와 같은지 눈으로 확인합니다.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5A4D"/>
                </a:solidFill>
                <a:latin typeface="맑은 고딕"/>
              </a:rPr>
              <a:t>🛑 멈춤 버튼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다들 '어떻게 시키나'만 배웁니다. 진짜 중요한 건 '언제 멈추나'입니다.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1B2E"/>
                </a:solidFill>
                <a:latin typeface="맑은 고딕"/>
              </a:rPr>
              <a:t>언제 믿고, 언제 직접 볼까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29200" cy="109728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029200" cy="109728"/>
          </a:xfrm>
          <a:prstGeom prst="roundRect">
            <a:avLst/>
          </a:prstGeom>
          <a:solidFill>
            <a:srgbClr val="16A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029200" cy="3931920"/>
          </a:xfrm>
          <a:prstGeom prst="roundRect">
            <a:avLst/>
          </a:prstGeom>
          <a:solidFill>
            <a:srgbClr val="F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5A4D"/>
                </a:solidFill>
                <a:latin typeface="맑은 고딕"/>
              </a:rPr>
              <a:t>🛑 멈추고 직접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돈이 나가는 일 (결제·광고비)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되돌리기 어려운 일 (삭제·발송)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결과가 평소와 많이 다를 때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AI가 확신 없이 얼버무릴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029200" cy="3931920"/>
          </a:xfrm>
          <a:prstGeom prst="roundRect">
            <a:avLst/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A385"/>
                </a:solidFill>
                <a:latin typeface="맑은 고딕"/>
              </a:rPr>
              <a:t>✅ 믿고 맡겨도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초안·아이디어 만들기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반복되는 단순 작업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언제든 되돌릴 수 있는 일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222833"/>
                </a:solidFill>
                <a:latin typeface="맑은 고딕"/>
              </a:rPr>
              <a:t>이미 여러 번 검증된 작업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MODULE 3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목표만 말하고, 추천안 고르고, 작게 테스트하고, 위험하면 멈춘다.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28016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0" b="1" i="0">
                <a:solidFill>
                  <a:srgbClr val="222C44"/>
                </a:solidFill>
                <a:latin typeface="맑은 고딕"/>
              </a:rPr>
              <a:t>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1463040" cy="5486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5A4D"/>
                </a:solidFill>
                <a:latin typeface="맑은 고딕"/>
              </a:rPr>
              <a:t>MODULE 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8686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다시, 왜 AI는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강의를 할 수 없는가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B7280"/>
                </a:solidFill>
                <a:latin typeface="맑은 고딕"/>
              </a:rPr>
              <a:t>이제 답할 수 있습니다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오늘의 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AI는 정보를 줍니다. 하지만…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AI는 '당신이 무엇을 모르는지'를 모릅니다.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AI는 '당신 회사의 사정'을 모릅니다.  (맥락)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222833"/>
                </a:solidFill>
                <a:latin typeface="맑은 고딕"/>
              </a:rPr>
              <a:t>•  AI는 '당신 대신 책임'지지 않습니다.  (책임)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5A4D"/>
                </a:solidFill>
                <a:latin typeface="맑은 고딕"/>
              </a:rPr>
              <a:t>•  그래서 판단은 끝까지 사람의 몫입니다.  (판단)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9456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FFFFFF"/>
                </a:solidFill>
                <a:latin typeface="맑은 고딕"/>
              </a:rPr>
              <a:t>이 강의의 경쟁자는</a:t>
            </a:r>
          </a:p>
          <a:p>
            <a:pPr algn="ctr"/>
            <a:r>
              <a:rPr sz="3000" b="0" i="1">
                <a:solidFill>
                  <a:srgbClr val="FFFFFF"/>
                </a:solidFill>
                <a:latin typeface="맑은 고딕"/>
              </a:rPr>
              <a:t>AI 강의가 아니라 운전면허 학원입니다.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7548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B341"/>
                </a:solidFill>
                <a:latin typeface="맑은 고딕"/>
              </a:rPr>
              <a:t>— 운전학원은 엔진 구조를 가르치지 않습니다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우리가 가르친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운전면허 학원처럼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6B7280"/>
                </a:solidFill>
                <a:latin typeface="맑은 고딕"/>
              </a:rPr>
              <a:t>•  엔진 구조(MCP가 뭔지)는 깊게 안 배웁니다.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브레이크 언제 밟나 = 언제 AI를 멈추나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차선 바꾸기 = 방식을 언제 바꾸나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위험 판단 = 언제 의심하나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6A385"/>
                </a:solidFill>
                <a:latin typeface="맑은 고딕"/>
              </a:rPr>
              <a:t>도구는 바뀝니다.</a:t>
            </a:r>
          </a:p>
          <a:p>
            <a:pPr algn="ctr"/>
            <a:r>
              <a:rPr sz="3800" b="1" i="0">
                <a:solidFill>
                  <a:srgbClr val="16A385"/>
                </a:solidFill>
                <a:latin typeface="맑은 고딕"/>
              </a:rPr>
              <a:t>판단하는 법은 남습니다.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스킬은 1년 뒤 바뀔 수 있습니다. 오늘 배운 판단력은 그대로 갑니다.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FF5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A4D"/>
                </a:solidFill>
                <a:latin typeface="맑은 고딕"/>
              </a:rPr>
              <a:t>지금 바로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1B2E"/>
                </a:solidFill>
                <a:latin typeface="맑은 고딕"/>
              </a:rPr>
              <a:t>당신의 다음 한 걸음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822960" cy="45720"/>
          </a:xfrm>
          <a:prstGeom prst="roundRect">
            <a:avLst/>
          </a:prstGeom>
          <a:solidFill>
            <a:srgbClr val="F5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① 「AI 직원 만들기」를 설치한다.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② 가장 번거로운 일 하나를 떠올린다.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41B2E"/>
                </a:solidFill>
                <a:latin typeface="맑은 고딕"/>
              </a:rPr>
              <a:t>•  ③ 코치에게 "이게 불편해요"라고 말한다.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6A385"/>
                </a:solidFill>
                <a:latin typeface="맑은 고딕"/>
              </a:rPr>
              <a:t>•  그게 당신의 첫 AI 직원입니다.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맑은 고딕"/>
              </a:rPr>
              <a:t>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당신은 이제</a:t>
            </a:r>
          </a:p>
          <a:p>
            <a:pPr algn="ctr"/>
            <a:r>
              <a:rPr sz="3800" b="1" i="0">
                <a:solidFill>
                  <a:srgbClr val="141B2E"/>
                </a:solidFill>
                <a:latin typeface="맑은 고딕"/>
              </a:rPr>
              <a:t>AI 사장님입니다.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6B7280"/>
                </a:solidFill>
                <a:latin typeface="맑은 고딕"/>
              </a:rPr>
              <a:t>고맙습니다.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